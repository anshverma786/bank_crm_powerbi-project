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90" r:id="rId5"/>
    <p:sldId id="266" r:id="rId6"/>
    <p:sldId id="267" r:id="rId7"/>
    <p:sldId id="293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92" r:id="rId29"/>
    <p:sldId id="288" r:id="rId30"/>
    <p:sldId id="291" r:id="rId31"/>
    <p:sldId id="28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535603-2EBA-4DF7-A7A4-29D7583AE5AF}" v="4" dt="2025-12-13T07:38:49.9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yanish Khanna" userId="63e7f5aa49fd2512" providerId="LiveId" clId="{C0C094D3-A35A-4C93-BB4B-91E8E45094FE}"/>
    <pc:docChg chg="undo redo custSel modSld modMainMaster">
      <pc:chgData name="Dhyanish Khanna" userId="63e7f5aa49fd2512" providerId="LiveId" clId="{C0C094D3-A35A-4C93-BB4B-91E8E45094FE}" dt="2025-12-13T07:38:55.435" v="7" actId="20577"/>
      <pc:docMkLst>
        <pc:docMk/>
      </pc:docMkLst>
      <pc:sldChg chg="modSp mod">
        <pc:chgData name="Dhyanish Khanna" userId="63e7f5aa49fd2512" providerId="LiveId" clId="{C0C094D3-A35A-4C93-BB4B-91E8E45094FE}" dt="2025-12-13T07:38:55.435" v="7" actId="20577"/>
        <pc:sldMkLst>
          <pc:docMk/>
          <pc:sldMk cId="4015556214" sldId="256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4015556214" sldId="256"/>
            <ac:spMk id="2" creationId="{6441FD2E-C629-605E-C03A-D47C659AF63C}"/>
          </ac:spMkLst>
        </pc:spChg>
        <pc:spChg chg="mod">
          <ac:chgData name="Dhyanish Khanna" userId="63e7f5aa49fd2512" providerId="LiveId" clId="{C0C094D3-A35A-4C93-BB4B-91E8E45094FE}" dt="2025-12-13T07:38:55.435" v="7" actId="20577"/>
          <ac:spMkLst>
            <pc:docMk/>
            <pc:sldMk cId="4015556214" sldId="256"/>
            <ac:spMk id="3" creationId="{74D15F1C-658F-06CF-9418-D7C36BC6451D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745749638" sldId="257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745749638" sldId="257"/>
            <ac:spMk id="2" creationId="{C65E12B0-7D5D-2FC0-4BEF-BAF3296D0620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745749638" sldId="257"/>
            <ac:spMk id="3" creationId="{22C17F92-D31E-73AD-E6F6-EF79961C40D7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2390449500" sldId="258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2390449500" sldId="258"/>
            <ac:spMk id="2" creationId="{83AB76D0-AAA8-4021-6335-D66E2C958C9E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2390449500" sldId="258"/>
            <ac:spMk id="3" creationId="{60527453-C688-1F9A-DAB1-0FDE2C0B25E4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394346845" sldId="259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394346845" sldId="259"/>
            <ac:spMk id="2" creationId="{7E36722B-623A-2B08-671B-2B79858600A4}"/>
          </ac:spMkLst>
        </pc:spChg>
        <pc:graphicFrameChg chg="mod">
          <ac:chgData name="Dhyanish Khanna" userId="63e7f5aa49fd2512" providerId="LiveId" clId="{C0C094D3-A35A-4C93-BB4B-91E8E45094FE}" dt="2025-12-13T07:38:49.909" v="5"/>
          <ac:graphicFrameMkLst>
            <pc:docMk/>
            <pc:sldMk cId="394346845" sldId="259"/>
            <ac:graphicFrameMk id="4" creationId="{BB8CC666-A18F-46D2-B476-9157D812F4E1}"/>
          </ac:graphicFrameMkLst>
        </pc:graphicFrame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4116133765" sldId="260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4116133765" sldId="260"/>
            <ac:spMk id="2" creationId="{E3F511E6-A4B9-993B-9E34-DFDAE7F10399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4116133765" sldId="260"/>
            <ac:spMk id="3" creationId="{E7AFD07C-70C0-F70E-BE6B-B9768E96585F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3652630008" sldId="261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3652630008" sldId="261"/>
            <ac:spMk id="2" creationId="{EFF56318-F9C7-BB20-602D-6C23E17309FD}"/>
          </ac:spMkLst>
        </pc:spChg>
        <pc:graphicFrameChg chg="mod">
          <ac:chgData name="Dhyanish Khanna" userId="63e7f5aa49fd2512" providerId="LiveId" clId="{C0C094D3-A35A-4C93-BB4B-91E8E45094FE}" dt="2025-12-13T07:38:49.909" v="5"/>
          <ac:graphicFrameMkLst>
            <pc:docMk/>
            <pc:sldMk cId="3652630008" sldId="261"/>
            <ac:graphicFrameMk id="4" creationId="{1DF82C97-C06D-93F1-220C-E8A019DFC725}"/>
          </ac:graphicFrameMkLst>
        </pc:graphicFrame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80073880" sldId="262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80073880" sldId="262"/>
            <ac:spMk id="2" creationId="{F8DBB059-36FC-C66F-42E8-6E4E0AF08427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80073880" sldId="262"/>
            <ac:spMk id="3" creationId="{32C9EC72-1099-9B77-E6D5-3237554E2DC2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1213197361" sldId="263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1213197361" sldId="263"/>
            <ac:spMk id="2" creationId="{9C299BFF-7CBC-B73E-55E6-0091318BF11B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1213197361" sldId="263"/>
            <ac:spMk id="3" creationId="{B1E1D797-7C0B-D326-BBCE-3D10FCB9DF1D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2852364618" sldId="264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2852364618" sldId="264"/>
            <ac:spMk id="2" creationId="{CBCBFD51-6753-D383-4EF0-EB1445CD4728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2852364618" sldId="264"/>
            <ac:spMk id="3" creationId="{F2582B05-3A8A-AD3B-75D4-3147B9BED333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1662376975" sldId="265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1662376975" sldId="265"/>
            <ac:spMk id="2" creationId="{67ABEDC3-4CCC-CE6A-C223-BCD7C5DF7B39}"/>
          </ac:spMkLst>
        </pc:spChg>
        <pc:graphicFrameChg chg="mod">
          <ac:chgData name="Dhyanish Khanna" userId="63e7f5aa49fd2512" providerId="LiveId" clId="{C0C094D3-A35A-4C93-BB4B-91E8E45094FE}" dt="2025-12-13T07:38:49.909" v="5"/>
          <ac:graphicFrameMkLst>
            <pc:docMk/>
            <pc:sldMk cId="1662376975" sldId="265"/>
            <ac:graphicFrameMk id="4" creationId="{EC030E6F-BBDD-0858-F00E-85CBF75B2594}"/>
          </ac:graphicFrameMkLst>
        </pc:graphicFrame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3077579807" sldId="266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3077579807" sldId="266"/>
            <ac:spMk id="2" creationId="{A481CF83-FAF5-A613-1662-DB23AF321D08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3077579807" sldId="266"/>
            <ac:spMk id="3" creationId="{3E6F2940-2E1F-D449-2B2B-3F028E27D9D2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2229529603" sldId="267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2229529603" sldId="267"/>
            <ac:spMk id="2" creationId="{A8F327E4-3FFC-66CC-882C-04056017D9C8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2229529603" sldId="267"/>
            <ac:spMk id="3" creationId="{6122D2DD-3D64-4084-6483-5D2D9A27D619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4012776329" sldId="268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4012776329" sldId="268"/>
            <ac:spMk id="2" creationId="{E9695FFE-3096-B462-3A93-8DB2A70E6AB6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4012776329" sldId="268"/>
            <ac:spMk id="3" creationId="{D9C5EC2E-55C2-549F-87B6-E0CE38F09F69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3682275906" sldId="269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3682275906" sldId="269"/>
            <ac:spMk id="2" creationId="{6973EADF-1A61-462E-3177-216D5F8B1579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3682275906" sldId="269"/>
            <ac:spMk id="3" creationId="{D789AA5A-7E18-ED34-747C-E0CF9173002C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4082641743" sldId="270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4082641743" sldId="270"/>
            <ac:spMk id="2" creationId="{4836E2D5-A505-10A0-5CED-927470AB3C31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4082641743" sldId="270"/>
            <ac:spMk id="3" creationId="{8115C3BC-6831-43A5-0DFC-9E8CF67CA7D0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1658084119" sldId="271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1658084119" sldId="271"/>
            <ac:spMk id="2" creationId="{6910C13F-8719-D326-9F2E-995A41FB50B4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1658084119" sldId="271"/>
            <ac:spMk id="3" creationId="{1A0D51B8-6D52-298E-1EB3-87976AF41D2E}"/>
          </ac:spMkLst>
        </pc:spChg>
      </pc:sldChg>
      <pc:sldChg chg="modSp">
        <pc:chgData name="Dhyanish Khanna" userId="63e7f5aa49fd2512" providerId="LiveId" clId="{C0C094D3-A35A-4C93-BB4B-91E8E45094FE}" dt="2025-12-13T07:38:49.909" v="5"/>
        <pc:sldMkLst>
          <pc:docMk/>
          <pc:sldMk cId="538728877" sldId="272"/>
        </pc:sldMkLst>
        <pc:spChg chg="mod">
          <ac:chgData name="Dhyanish Khanna" userId="63e7f5aa49fd2512" providerId="LiveId" clId="{C0C094D3-A35A-4C93-BB4B-91E8E45094FE}" dt="2025-12-13T07:38:49.909" v="5"/>
          <ac:spMkLst>
            <pc:docMk/>
            <pc:sldMk cId="538728877" sldId="272"/>
            <ac:spMk id="2" creationId="{8130AE94-3B41-EC0A-E5AE-EB82D1A3D2C0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k cId="538728877" sldId="272"/>
            <ac:spMk id="3" creationId="{6FCC8594-4AFC-9233-16C1-47498548ECFD}"/>
          </ac:spMkLst>
        </pc:spChg>
      </pc:sldChg>
      <pc:sldMasterChg chg="modSp modSldLayout">
        <pc:chgData name="Dhyanish Khanna" userId="63e7f5aa49fd2512" providerId="LiveId" clId="{C0C094D3-A35A-4C93-BB4B-91E8E45094FE}" dt="2025-12-13T07:38:49.909" v="5"/>
        <pc:sldMasterMkLst>
          <pc:docMk/>
          <pc:sldMasterMk cId="2172653627" sldId="2147483660"/>
        </pc:sldMasterMkLst>
        <pc:spChg chg="mod">
          <ac:chgData name="Dhyanish Khanna" userId="63e7f5aa49fd2512" providerId="LiveId" clId="{C0C094D3-A35A-4C93-BB4B-91E8E45094FE}" dt="2025-12-13T07:38:49.909" v="5"/>
          <ac:spMkLst>
            <pc:docMk/>
            <pc:sldMasterMk cId="2172653627" sldId="2147483660"/>
            <ac:spMk id="2" creationId="{00000000-0000-0000-0000-000000000000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asterMk cId="2172653627" sldId="2147483660"/>
            <ac:spMk id="3" creationId="{00000000-0000-0000-0000-000000000000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asterMk cId="2172653627" sldId="2147483660"/>
            <ac:spMk id="4" creationId="{00000000-0000-0000-0000-000000000000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asterMk cId="2172653627" sldId="2147483660"/>
            <ac:spMk id="5" creationId="{00000000-0000-0000-0000-000000000000}"/>
          </ac:spMkLst>
        </pc:spChg>
        <pc:spChg chg="mod">
          <ac:chgData name="Dhyanish Khanna" userId="63e7f5aa49fd2512" providerId="LiveId" clId="{C0C094D3-A35A-4C93-BB4B-91E8E45094FE}" dt="2025-12-13T07:38:49.909" v="5"/>
          <ac:spMkLst>
            <pc:docMk/>
            <pc:sldMasterMk cId="2172653627" sldId="2147483660"/>
            <ac:spMk id="6" creationId="{00000000-0000-0000-0000-000000000000}"/>
          </ac:spMkLst>
        </pc:spChg>
        <pc:picChg chg="mod">
          <ac:chgData name="Dhyanish Khanna" userId="63e7f5aa49fd2512" providerId="LiveId" clId="{C0C094D3-A35A-4C93-BB4B-91E8E45094FE}" dt="2025-12-13T07:38:49.909" v="5"/>
          <ac:picMkLst>
            <pc:docMk/>
            <pc:sldMasterMk cId="2172653627" sldId="2147483660"/>
            <ac:picMk id="7" creationId="{00000000-0000-0000-0000-000000000000}"/>
          </ac:picMkLst>
        </pc:pic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2420752989" sldId="2147483661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420752989" sldId="2147483661"/>
              <ac:spMk id="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420752989" sldId="2147483661"/>
              <ac:spMk id="3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420752989" sldId="2147483661"/>
              <ac:spMk id="6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420752989" sldId="2147483661"/>
              <ac:spMk id="9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420752989" sldId="2147483661"/>
              <ac:spMk id="10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2420752989" sldId="2147483661"/>
              <ac:picMk id="7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2420752989" sldId="2147483661"/>
              <ac:picMk id="8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3676301274" sldId="2147483662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676301274" sldId="2147483662"/>
              <ac:spMk id="17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676301274" sldId="2147483662"/>
              <ac:spMk id="18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3676301274" sldId="2147483662"/>
              <ac:picMk id="15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3676301274" sldId="2147483662"/>
              <ac:picMk id="16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3257428557" sldId="2147483663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257428557" sldId="2147483663"/>
              <ac:spMk id="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257428557" sldId="2147483663"/>
              <ac:spMk id="3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257428557" sldId="2147483663"/>
              <ac:spMk id="6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257428557" sldId="2147483663"/>
              <ac:spMk id="9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257428557" sldId="2147483663"/>
              <ac:spMk id="10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3257428557" sldId="2147483663"/>
              <ac:picMk id="7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3257428557" sldId="2147483663"/>
              <ac:picMk id="8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1270688399" sldId="2147483664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270688399" sldId="2147483664"/>
              <ac:spMk id="3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270688399" sldId="2147483664"/>
              <ac:spMk id="4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270688399" sldId="2147483664"/>
              <ac:spMk id="10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270688399" sldId="2147483664"/>
              <ac:spMk id="11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1270688399" sldId="2147483664"/>
              <ac:picMk id="8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1270688399" sldId="2147483664"/>
              <ac:picMk id="9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530769828" sldId="2147483665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30769828" sldId="2147483665"/>
              <ac:spMk id="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30769828" sldId="2147483665"/>
              <ac:spMk id="3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30769828" sldId="2147483665"/>
              <ac:spMk id="4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30769828" sldId="2147483665"/>
              <ac:spMk id="5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30769828" sldId="2147483665"/>
              <ac:spMk id="6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30769828" sldId="2147483665"/>
              <ac:spMk id="1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30769828" sldId="2147483665"/>
              <ac:spMk id="13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530769828" sldId="2147483665"/>
              <ac:picMk id="10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530769828" sldId="2147483665"/>
              <ac:picMk id="11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1205818176" sldId="2147483666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205818176" sldId="2147483666"/>
              <ac:spMk id="8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205818176" sldId="2147483666"/>
              <ac:spMk id="9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1205818176" sldId="2147483666"/>
              <ac:picMk id="6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1205818176" sldId="2147483666"/>
              <ac:picMk id="7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631712339" sldId="2147483667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631712339" sldId="2147483667"/>
              <ac:spMk id="6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631712339" sldId="2147483667"/>
              <ac:picMk id="5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1253102660" sldId="2147483668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253102660" sldId="2147483668"/>
              <ac:spMk id="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253102660" sldId="2147483668"/>
              <ac:spMk id="3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253102660" sldId="2147483668"/>
              <ac:spMk id="4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253102660" sldId="2147483668"/>
              <ac:spMk id="10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253102660" sldId="2147483668"/>
              <ac:spMk id="11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1253102660" sldId="2147483668"/>
              <ac:picMk id="8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1253102660" sldId="2147483668"/>
              <ac:picMk id="9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1006679962" sldId="2147483669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006679962" sldId="2147483669"/>
              <ac:spMk id="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006679962" sldId="2147483669"/>
              <ac:spMk id="3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006679962" sldId="2147483669"/>
              <ac:spMk id="4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006679962" sldId="2147483669"/>
              <ac:spMk id="10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1006679962" sldId="2147483669"/>
              <ac:spMk id="11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1006679962" sldId="2147483669"/>
              <ac:picMk id="8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1006679962" sldId="2147483669"/>
              <ac:picMk id="9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3744068599" sldId="2147483670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744068599" sldId="2147483670"/>
              <ac:spMk id="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744068599" sldId="2147483670"/>
              <ac:spMk id="3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744068599" sldId="2147483670"/>
              <ac:spMk id="4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744068599" sldId="2147483670"/>
              <ac:spMk id="7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744068599" sldId="2147483670"/>
              <ac:spMk id="10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3744068599" sldId="2147483670"/>
              <ac:spMk id="11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3744068599" sldId="2147483670"/>
              <ac:picMk id="8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3744068599" sldId="2147483670"/>
              <ac:picMk id="9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4053339709" sldId="2147483671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4053339709" sldId="2147483671"/>
              <ac:spMk id="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4053339709" sldId="2147483671"/>
              <ac:spMk id="4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4053339709" sldId="2147483671"/>
              <ac:spMk id="7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4053339709" sldId="2147483671"/>
              <ac:spMk id="10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4053339709" sldId="2147483671"/>
              <ac:spMk id="11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4053339709" sldId="2147483671"/>
              <ac:picMk id="8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4053339709" sldId="2147483671"/>
              <ac:picMk id="9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980278425" sldId="2147483672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980278425" sldId="2147483672"/>
              <ac:spMk id="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980278425" sldId="2147483672"/>
              <ac:spMk id="4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980278425" sldId="2147483672"/>
              <ac:spMk id="7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980278425" sldId="2147483672"/>
              <ac:spMk id="1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980278425" sldId="2147483672"/>
              <ac:spMk id="14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980278425" sldId="2147483672"/>
              <ac:spMk id="15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980278425" sldId="2147483672"/>
              <ac:spMk id="16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980278425" sldId="2147483672"/>
              <ac:spMk id="17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980278425" sldId="2147483672"/>
              <ac:picMk id="11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980278425" sldId="2147483672"/>
              <ac:picMk id="13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2562068856" sldId="2147483673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562068856" sldId="2147483673"/>
              <ac:spMk id="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562068856" sldId="2147483673"/>
              <ac:spMk id="4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562068856" sldId="2147483673"/>
              <ac:spMk id="7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562068856" sldId="2147483673"/>
              <ac:spMk id="11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562068856" sldId="2147483673"/>
              <ac:spMk id="12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2562068856" sldId="2147483673"/>
              <ac:picMk id="9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2562068856" sldId="2147483673"/>
              <ac:picMk id="10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517265371" sldId="2147483674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17265371" sldId="2147483674"/>
              <ac:spMk id="7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17265371" sldId="2147483674"/>
              <ac:spMk id="8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17265371" sldId="2147483674"/>
              <ac:spMk id="9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17265371" sldId="2147483674"/>
              <ac:spMk id="10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17265371" sldId="2147483674"/>
              <ac:spMk id="11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17265371" sldId="2147483674"/>
              <ac:spMk id="1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17265371" sldId="2147483674"/>
              <ac:spMk id="15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17265371" sldId="2147483674"/>
              <ac:spMk id="16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517265371" sldId="2147483674"/>
              <ac:spMk id="17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517265371" sldId="2147483674"/>
              <ac:picMk id="13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5.851" v="2"/>
            <ac:picMkLst>
              <pc:docMk/>
              <pc:sldMasterMk cId="2172653627" sldId="2147483660"/>
              <pc:sldLayoutMk cId="517265371" sldId="2147483674"/>
              <ac:picMk id="14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2012854089" sldId="2147483675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012854089" sldId="2147483675"/>
              <ac:spMk id="18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012854089" sldId="2147483675"/>
              <ac:spMk id="19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012854089" sldId="2147483675"/>
              <ac:spMk id="20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5.851" v="2"/>
            <ac:spMkLst>
              <pc:docMk/>
              <pc:sldMasterMk cId="2172653627" sldId="2147483660"/>
              <pc:sldLayoutMk cId="2012854089" sldId="2147483675"/>
              <ac:spMk id="21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012854089" sldId="2147483675"/>
              <ac:spMk id="2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012854089" sldId="2147483675"/>
              <ac:spMk id="23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012854089" sldId="2147483675"/>
              <ac:spMk id="24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012854089" sldId="2147483675"/>
              <ac:spMk id="25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012854089" sldId="2147483675"/>
              <ac:spMk id="26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012854089" sldId="2147483675"/>
              <ac:spMk id="27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012854089" sldId="2147483675"/>
              <ac:spMk id="30" creationId="{00000000-0000-0000-0000-000000000000}"/>
            </ac:spMkLst>
          </pc:sp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2226081144" sldId="2147483676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226081144" sldId="2147483676"/>
              <ac:spMk id="9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2226081144" sldId="2147483676"/>
              <ac:spMk id="10" creationId="{00000000-0000-0000-0000-000000000000}"/>
            </ac:spMkLst>
          </pc:sp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2226081144" sldId="2147483676"/>
              <ac:picMk id="7" creationId="{00000000-0000-0000-0000-000000000000}"/>
            </ac:picMkLst>
          </pc:picChg>
          <pc:picChg chg="mod">
            <ac:chgData name="Dhyanish Khanna" userId="63e7f5aa49fd2512" providerId="LiveId" clId="{C0C094D3-A35A-4C93-BB4B-91E8E45094FE}" dt="2025-12-13T07:38:49.909" v="5"/>
            <ac:picMkLst>
              <pc:docMk/>
              <pc:sldMasterMk cId="2172653627" sldId="2147483660"/>
              <pc:sldLayoutMk cId="2226081144" sldId="2147483676"/>
              <ac:picMk id="8" creationId="{00000000-0000-0000-0000-000000000000}"/>
            </ac:picMkLst>
          </pc:picChg>
        </pc:sldLayoutChg>
        <pc:sldLayoutChg chg="modSp">
          <pc:chgData name="Dhyanish Khanna" userId="63e7f5aa49fd2512" providerId="LiveId" clId="{C0C094D3-A35A-4C93-BB4B-91E8E45094FE}" dt="2025-12-13T07:38:49.909" v="5"/>
          <pc:sldLayoutMkLst>
            <pc:docMk/>
            <pc:sldMasterMk cId="2172653627" sldId="2147483660"/>
            <pc:sldLayoutMk cId="4150910802" sldId="2147483677"/>
          </pc:sldLayoutMkLst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4150910802" sldId="2147483677"/>
              <ac:spMk id="2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4150910802" sldId="2147483677"/>
              <ac:spMk id="3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4150910802" sldId="2147483677"/>
              <ac:spMk id="4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4150910802" sldId="2147483677"/>
              <ac:spMk id="5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4150910802" sldId="2147483677"/>
              <ac:spMk id="6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4150910802" sldId="2147483677"/>
              <ac:spMk id="7" creationId="{00000000-0000-0000-0000-000000000000}"/>
            </ac:spMkLst>
          </pc:spChg>
          <pc:spChg chg="mod">
            <ac:chgData name="Dhyanish Khanna" userId="63e7f5aa49fd2512" providerId="LiveId" clId="{C0C094D3-A35A-4C93-BB4B-91E8E45094FE}" dt="2025-12-13T07:38:49.909" v="5"/>
            <ac:spMkLst>
              <pc:docMk/>
              <pc:sldMasterMk cId="2172653627" sldId="2147483660"/>
              <pc:sldLayoutMk cId="4150910802" sldId="2147483677"/>
              <ac:spMk id="8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3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76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878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034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775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193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03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3499902-C364-4E33-B57E-1DC6A712CB0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501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74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06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16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3499902-C364-4E33-B57E-1DC6A712CB0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37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1FD2E-C629-605E-C03A-D47C659AF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310" y="1732346"/>
            <a:ext cx="10058400" cy="2463959"/>
          </a:xfrm>
        </p:spPr>
        <p:txBody>
          <a:bodyPr/>
          <a:lstStyle/>
          <a:p>
            <a:r>
              <a:rPr lang="en-US" sz="4800" dirty="0"/>
              <a:t>BANK CRM ANALYSIS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15F1C-658F-06CF-9418-D7C36BC64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8310" y="4433370"/>
            <a:ext cx="8144135" cy="1937933"/>
          </a:xfrm>
        </p:spPr>
        <p:txBody>
          <a:bodyPr>
            <a:normAutofit/>
          </a:bodyPr>
          <a:lstStyle/>
          <a:p>
            <a:r>
              <a:rPr lang="en-US" dirty="0"/>
              <a:t>A Data‑Driven Story using SQL Analytics &amp; Business Intelligence</a:t>
            </a:r>
          </a:p>
          <a:p>
            <a:r>
              <a:rPr lang="en-US" dirty="0"/>
              <a:t>Customer Retention &amp; Risk Analysis</a:t>
            </a:r>
          </a:p>
          <a:p>
            <a:r>
              <a:rPr lang="en-US" dirty="0">
                <a:solidFill>
                  <a:srgbClr val="FFC000"/>
                </a:solidFill>
              </a:rPr>
              <a:t>Prepared By: Ansh VERMA</a:t>
            </a:r>
          </a:p>
          <a:p>
            <a:endParaRPr lang="en-US" dirty="0">
              <a:solidFill>
                <a:srgbClr val="FFC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555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12B0-7D5D-2FC0-4BEF-BAF3296D0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17F92-D31E-73AD-E6F6-EF79961C4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Problem Statement &amp; Business Objective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Dataset &amp; Data Model Overview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Objective Analysis – Key SQL Insights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Customer </a:t>
            </a:r>
            <a:r>
              <a:rPr lang="en-IN" dirty="0" err="1"/>
              <a:t>Behavior</a:t>
            </a:r>
            <a:r>
              <a:rPr lang="en-IN" dirty="0"/>
              <a:t> &amp; Churn Drivers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Risk, Geography &amp; Product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Strategic Insights &amp; Recommendations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Dashboard Vision &amp; Conclusion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5749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76D0-AAA8-4021-6335-D66E2C958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27453-C688-1F9A-DAB1-0FDE2C0B2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23917"/>
            <a:ext cx="9613861" cy="452112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The bank is experiencing customer churn, impacting revenue and long-term growth.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There is a need to analyze customer demographics, transaction behavior, exit data, and active customer profiles to identify churn patterns.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objective is to extract actionable insights that help predict and reduce customer attrition.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bank aims to improve service delivery by understanding customer behavior and engagement trends.</a:t>
            </a:r>
          </a:p>
        </p:txBody>
      </p:sp>
    </p:spTree>
    <p:extLst>
      <p:ext uri="{BB962C8B-B14F-4D97-AF65-F5344CB8AC3E}">
        <p14:creationId xmlns:p14="http://schemas.microsoft.com/office/powerpoint/2010/main" val="239044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CE2D3-8E63-C686-4578-05493B9D6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C20CF-68B1-520E-BC4B-226524AD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98423-E0E9-FD27-F3A7-694966C88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Understand customer behavior and churn patterns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Identify high‑risk customer segments and regions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Evaluate product engagement and retention effectiveness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Provide actionable insights to reduce churn and protect capital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Support CRM, marketing, and risk‑management decision‑making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585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1CF83-FAF5-A613-1662-DB23AF32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F2940-2E1F-D449-2B2B-3F028E27D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Total Customers: 10,000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Primary Fact Table: </a:t>
            </a:r>
            <a:r>
              <a:rPr lang="en-IN" dirty="0" err="1"/>
              <a:t>Bank_Churn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Supporting Dimension Tables: Customer_Info, Geography, Gender, Credit Card Status, Active Status, Exit Status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Time Period: Multi‑year customer onboarding data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Tools Used: SQL, Power BI, Statistical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579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27E4-3FFC-66CC-882C-04056017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Data Model &amp; Schema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2D2DD-3D64-4084-6483-5D2D9A27D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Star‑Schema based analytical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Bank_Churn</a:t>
            </a:r>
            <a:r>
              <a:rPr lang="en-US" dirty="0"/>
              <a:t> as central fact table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Lookup tables ensure data consistency &amp; scalability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Optimized for churn, retention, and CRM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Supports slicing by geography, gender, tenure, products, and activity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529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02FB-64B1-B424-0A2D-90A62F5C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Database Schema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1C69A5-2550-669D-AE03-29D172BEA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851" y="1846263"/>
            <a:ext cx="8056624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BBEB4-E5A6-DB2E-926B-48C719FB1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A872A-CFCC-4FBB-5326-8B617F240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Regional Distribution of Account Balances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57E98322-E77D-93B6-25C4-2BCF12A4B0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47386"/>
            <a:ext cx="4938712" cy="2963227"/>
          </a:xfrm>
          <a:effectLst>
            <a:innerShdw blurRad="114300">
              <a:prstClr val="black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2D3CE-A85F-B87B-B737-163AF1A03C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France: Largest customer base and total balance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Germany: Highest average balance per customer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Spain: Smallest market by total balance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Key Risk: Germany holds high‑value customers with elevated churn risk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5065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643C-434A-5424-23A2-70CA4DF16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0D5D-168E-A96C-1C68-7DA11B40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High‑Value Customer Acquisition 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EF0C270-888A-837B-09AF-7D6D57F2D9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47386"/>
            <a:ext cx="4938712" cy="2963227"/>
          </a:xfrm>
          <a:effectLst>
            <a:innerShdw blurRad="114300">
              <a:prstClr val="black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AC1E6-56B3-14F9-90AD-70340AA0DB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Top 5 salaries exceed $199K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Strong acquisition of high‑net‑worth individuals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Indicates success of year‑end campaigns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Opportunity to retain these customers with premium offerings</a:t>
            </a:r>
          </a:p>
        </p:txBody>
      </p:sp>
    </p:spTree>
    <p:extLst>
      <p:ext uri="{BB962C8B-B14F-4D97-AF65-F5344CB8AC3E}">
        <p14:creationId xmlns:p14="http://schemas.microsoft.com/office/powerpoint/2010/main" val="438115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19E0-5502-E6BA-C3D3-17A1E2A9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41BC-A973-1A4B-7694-0F3CEA41B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Product Usage – Credit Card Holders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C63161-DBEE-5AE6-C19C-9B6AC73F9A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2005608"/>
            <a:ext cx="4938712" cy="3704034"/>
          </a:xfrm>
          <a:effectLst>
            <a:innerShdw blurRad="114300">
              <a:prstClr val="black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927F4-967A-1F0B-8262-57CB0B35CD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Average products used: ~1.53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Credit card alone does not guarantee loyalty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Cross‑selling opportunity to increase product depth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Focus on converting 1‑product users to multi‑product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693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F174-6F2A-69A9-7FD1-E1E58FAF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04BD-A285-BA95-DF27-D167CDE7F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Churn Analysis by Gender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45B3DC1-9040-12B3-3DCD-685EB74DEF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8" y="1947386"/>
            <a:ext cx="4938712" cy="2963227"/>
          </a:xfrm>
          <a:effectLst>
            <a:innerShdw blurRad="114300">
              <a:prstClr val="black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2CCCD-E604-163F-BE94-56CBC73859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Female customers show higher churn rate (~25%)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Male customers show stronger retention (~15%)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Indicates potential service or product mismatch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Opportunity for targeted female‑focused engagement strategies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418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EC86B-6CE5-8392-B8D6-B1E935F0B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F139-0B02-D821-FEBA-C9DD3B00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Credit Score – Churn vs Retained Customers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BFF832E-B08A-5991-706E-8F159E9EDB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47386"/>
            <a:ext cx="4938712" cy="2963227"/>
          </a:xfrm>
          <a:effectLst>
            <a:innerShdw blurRad="114300">
              <a:prstClr val="black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D6C48C-4841-D6B5-55F3-5581BD4518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Minimal difference in average credit score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Credit score is NOT a primary churn driver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Churn driven more by engagement &amp; product usage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Retention strategies should go beyond credit profiling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799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47980-CAAF-71A8-6206-A9E05EAF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E7A5D-85C4-2CDC-7A42-F8995337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Salary vs Account Activity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6013175-44E7-62A6-6213-214EB80E1A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47386"/>
            <a:ext cx="4938712" cy="2963227"/>
          </a:xfrm>
          <a:effectLst>
            <a:innerShdw blurRad="114300">
              <a:prstClr val="black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40466-53CB-97F4-70FB-112C036B6A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Females have slightly higher average salaries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Males show higher active‑account percentage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Higher income does not equal higher engagement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Need personalized engagement for high‑earning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22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DE3D5-5DA8-F041-83A4-E2E966C44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4641-666A-93AC-EDB6-94202CF95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Credit Score Segmentation &amp; Exit Rates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827DC4-712E-3300-2F74-CF56064BEF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89057"/>
            <a:ext cx="4938712" cy="2879886"/>
          </a:xfrm>
          <a:effectLst>
            <a:innerShdw blurRad="114300">
              <a:prstClr val="black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149D5-71D5-4D80-93E3-590C944106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Very Poor credit segment shows highest exit rate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Fair segment contributes maximum churn volume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Excellent credit customers are most stable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Retention focus should be on mid‑credit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878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208F-D00D-C8CF-BF84-729C6660C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CEBFD-5CC8-AB40-597F-D99F562E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Long‑Tenure Active Customers (&gt;5 Years)</a:t>
            </a:r>
            <a:endParaRPr lang="en-IN" dirty="0">
              <a:solidFill>
                <a:srgbClr val="FFC000"/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3ABC6DD-8CCA-66D8-CB8E-10A23982B9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05920027"/>
              </p:ext>
            </p:extLst>
          </p:nvPr>
        </p:nvGraphicFramePr>
        <p:xfrm>
          <a:off x="1097280" y="2057415"/>
          <a:ext cx="4697412" cy="180000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  <a:tableStyleId>{69CF1AB2-1976-4502-BF36-3FF5EA218861}</a:tableStyleId>
              </a:tblPr>
              <a:tblGrid>
                <a:gridCol w="1174353">
                  <a:extLst>
                    <a:ext uri="{9D8B030D-6E8A-4147-A177-3AD203B41FA5}">
                      <a16:colId xmlns:a16="http://schemas.microsoft.com/office/drawing/2014/main" val="839412937"/>
                    </a:ext>
                  </a:extLst>
                </a:gridCol>
                <a:gridCol w="1174353">
                  <a:extLst>
                    <a:ext uri="{9D8B030D-6E8A-4147-A177-3AD203B41FA5}">
                      <a16:colId xmlns:a16="http://schemas.microsoft.com/office/drawing/2014/main" val="290232231"/>
                    </a:ext>
                  </a:extLst>
                </a:gridCol>
                <a:gridCol w="1174353">
                  <a:extLst>
                    <a:ext uri="{9D8B030D-6E8A-4147-A177-3AD203B41FA5}">
                      <a16:colId xmlns:a16="http://schemas.microsoft.com/office/drawing/2014/main" val="3922997573"/>
                    </a:ext>
                  </a:extLst>
                </a:gridCol>
                <a:gridCol w="1174353">
                  <a:extLst>
                    <a:ext uri="{9D8B030D-6E8A-4147-A177-3AD203B41FA5}">
                      <a16:colId xmlns:a16="http://schemas.microsoft.com/office/drawing/2014/main" val="1870407579"/>
                    </a:ext>
                  </a:extLst>
                </a:gridCol>
              </a:tblGrid>
              <a:tr h="3802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</a:rPr>
                        <a:t>Metric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</a:rPr>
                        <a:t>France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 dirty="0">
                          <a:solidFill>
                            <a:srgbClr val="1F1F1F"/>
                          </a:solidFill>
                          <a:effectLst/>
                        </a:rPr>
                        <a:t>Germany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</a:rPr>
                        <a:t>Spain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extLst>
                  <a:ext uri="{0D108BD9-81ED-4DB2-BD59-A6C34878D82A}">
                    <a16:rowId xmlns:a16="http://schemas.microsoft.com/office/drawing/2014/main" val="1076856603"/>
                  </a:ext>
                </a:extLst>
              </a:tr>
              <a:tr h="3802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</a:rPr>
                        <a:t>Total Customers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dirty="0">
                          <a:solidFill>
                            <a:srgbClr val="1F1F1F"/>
                          </a:solidFill>
                          <a:effectLst/>
                        </a:rPr>
                        <a:t>5,014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>
                          <a:solidFill>
                            <a:srgbClr val="1F1F1F"/>
                          </a:solidFill>
                          <a:effectLst/>
                        </a:rPr>
                        <a:t>2,509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dirty="0">
                          <a:solidFill>
                            <a:srgbClr val="1F1F1F"/>
                          </a:solidFill>
                          <a:effectLst/>
                        </a:rPr>
                        <a:t>2,477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extLst>
                  <a:ext uri="{0D108BD9-81ED-4DB2-BD59-A6C34878D82A}">
                    <a16:rowId xmlns:a16="http://schemas.microsoft.com/office/drawing/2014/main" val="490130918"/>
                  </a:ext>
                </a:extLst>
              </a:tr>
              <a:tr h="3802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</a:rPr>
                        <a:t>Total Balance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dirty="0">
                          <a:solidFill>
                            <a:srgbClr val="1F1F1F"/>
                          </a:solidFill>
                          <a:effectLst/>
                        </a:rPr>
                        <a:t>311,332,507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dirty="0">
                          <a:solidFill>
                            <a:srgbClr val="1F1F1F"/>
                          </a:solidFill>
                          <a:effectLst/>
                        </a:rPr>
                        <a:t>300,402,890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>
                          <a:solidFill>
                            <a:srgbClr val="1F1F1F"/>
                          </a:solidFill>
                          <a:effectLst/>
                        </a:rPr>
                        <a:t>153,123,566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extLst>
                  <a:ext uri="{0D108BD9-81ED-4DB2-BD59-A6C34878D82A}">
                    <a16:rowId xmlns:a16="http://schemas.microsoft.com/office/drawing/2014/main" val="3178234148"/>
                  </a:ext>
                </a:extLst>
              </a:tr>
              <a:tr h="65938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</a:rPr>
                        <a:t>Stability Profile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</a:rPr>
                        <a:t>High Tenure/Low Risk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</a:rPr>
                        <a:t>High Value/High Risk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 dirty="0">
                          <a:solidFill>
                            <a:srgbClr val="1F1F1F"/>
                          </a:solidFill>
                          <a:effectLst/>
                        </a:rPr>
                        <a:t>Smallest Market Share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232" marR="37232" marT="24821" marB="24821" anchor="ctr"/>
                </a:tc>
                <a:extLst>
                  <a:ext uri="{0D108BD9-81ED-4DB2-BD59-A6C34878D82A}">
                    <a16:rowId xmlns:a16="http://schemas.microsoft.com/office/drawing/2014/main" val="2725499979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1084FD-F6A1-AC96-E7A0-13D10650BF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France leads in long‑tenure active customers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Represents stable, low‑risk customer 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Best practices from France should be replicated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Strengthens long‑term capital stability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678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96331-E346-D4DF-2903-3B586CA83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4759-8A51-8AC7-DDDB-BFC70A13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Impact of Credit Card on Churn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D599C8-45C0-095E-4FC9-32BA97C91A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47386"/>
            <a:ext cx="4938712" cy="2963227"/>
          </a:xfrm>
          <a:effectLst>
            <a:innerShdw blurRad="114300">
              <a:prstClr val="black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ED620-9042-AB56-C8F5-25D55698F3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Churn rates nearly identical for card &amp; non‑card holders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Credit cards alone are not retention drivers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Retention depends on engagement &amp; service quality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Rewards programs need enhancement to show impact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017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ACABC-7C32-35EB-D787-806F4D189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D581-F6AE-8DBF-DEED-6013F834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Product Count Among Churned Customers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09FD06D-5701-E425-18F8-CA22EB32C40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022050"/>
            <a:ext cx="4938712" cy="2963227"/>
          </a:xfrm>
          <a:effectLst>
            <a:innerShdw blurRad="114300">
              <a:prstClr val="black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54358-8B99-D1A1-63FC-FD6DEBB95E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69% churned customers used only one product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Sharp churn reduction at two or more products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Single‑product users are highest risk segment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Early cross‑sell is critical for retention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727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19182-77BD-DE85-77D3-E87143727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21C4-C1A3-02DD-E887-135FD1DB5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Customer Onboarding Trends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2DB12D7-0D42-62C0-D8FA-BC2A72DAA4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8" y="1993683"/>
            <a:ext cx="4938712" cy="2469356"/>
          </a:xfrm>
          <a:effectLst>
            <a:innerShdw blurRad="114300">
              <a:prstClr val="black"/>
            </a:innerShdw>
          </a:effectLst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AECAD64-7536-58E1-9388-BB66299DB8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Consistent growth year‑over‑year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Strong seasonality in (Sep‑Dec)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Lowest onboarding in early months (Jan‑Feb)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Marketing optimization needed for Q1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446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BCFE0-E306-3C53-A64B-9932FA092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5B830-69BF-02E8-1359-2AAC09F5A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Balance vs Product Count (Churned Customers)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3C5BF59-3970-EFBD-6275-01C0799B22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47386"/>
            <a:ext cx="4938712" cy="2963227"/>
          </a:xfrm>
          <a:effectLst>
            <a:innerShdw blurRad="114300">
              <a:prstClr val="black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2EB4C-8C14-9292-6AB5-FF07D93A60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High balances across all product counts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High‑value customers are exiting the bank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Even multi‑product customers are not immune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Indicates premium service gaps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013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BED1-9FA8-0452-AB8C-D8783862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A19D-5D2B-5BEE-897D-958BD23B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Outlier Analysis – Retained Customers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5A7211-293A-9D62-4741-4B14B07C97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47386"/>
            <a:ext cx="4938712" cy="2963227"/>
          </a:xfrm>
          <a:effectLst>
            <a:innerShdw blurRad="114300">
              <a:prstClr val="black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45E8A-5958-49D7-0C27-9501B6EB58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Wide balance distribution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No extreme statistical outliers detected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Presence of zero‑balance retained accounts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Inactive but retained customers inflate KPIs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904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7DE0-D738-DD98-3200-1268FC10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E48A0-D535-8C35-E098-3B0065485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9890696" cy="108093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Data Integrity &amp; Discrepancy Analysis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BFE43-ED0C-DFB5-199B-3CDAACB9C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735 customers marked Active but also Exited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Logical conflict in status flags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Exited status confirmed as accurate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IsActiveMember</a:t>
            </a:r>
            <a:r>
              <a:rPr lang="en-US" dirty="0"/>
              <a:t> flag requires correction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521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AEB54-05BF-8DEF-6F2F-899AEFE5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696D-5237-0442-92CD-7A7546329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Customer Behavior Insights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6E6E34-EBA9-F891-8EFF-975D72E420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47386"/>
            <a:ext cx="4938712" cy="2963227"/>
          </a:xfrm>
          <a:effectLst>
            <a:innerShdw blurRad="114300">
              <a:prstClr val="black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5D68F-20EC-8711-CF0E-FDCC2738C5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Multi‑product customers show higher loyalty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Wealth accumulation increases with tenure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Critical loyalty window between Years 2‑4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Product migration drives long‑term value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287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94F7-B65A-5CD1-177C-C6619EE3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D70C1-65E4-B8AB-C666-C55DEA22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Product Affinity &amp; Cross‑Sell Strategy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DA5814E-ECD5-AD6A-1567-F4F954D28A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8" y="1947386"/>
            <a:ext cx="4938712" cy="2963227"/>
          </a:xfrm>
          <a:effectLst>
            <a:innerShdw blurRad="114300">
              <a:prstClr val="black"/>
            </a:innerShdw>
          </a:effec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05A064-8C83-73E0-7F25-D64B623D61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Credit card acts as anchor product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1‑product customers are under‑utilized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Target single‑product users for card adoption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Focus shifts to retention after 3+ products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27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0D937-4DF9-B945-9AB9-29067FBB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59C20-A1BF-A6CE-9A88-3558FE314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9890696" cy="108093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Geographic Risk Assessment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750F-6AD6-1EB1-FE4A-C4BE97CCF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Germany: Highest churn &amp; highest balances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France: Stable &amp; loyal customer 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Spain: Lowest churn and lower balances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Germany requires urgent retention strategy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540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878D0-79D4-C663-9484-AB88C6E0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9C7D-3458-F4F3-7B30-B215FB0A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9890696" cy="108093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Risk Management Perspective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5A904-267E-4265-3E26-FAA2B838B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Highest risk: High‑balance, mid‑age customers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Credit score alone is not risk indicator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Churn causes capital loss, not just volume loss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Retention is more critical than acquisition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478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8063F-6D09-EA59-AE04-4F6716D4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5F0F-0627-5938-7A67-CC7FA762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9890696" cy="108093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Key Churn Predictors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878E7-2C65-E596-31E4-CFF1FFF8C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/>
              <a:t>IsActiveMember</a:t>
            </a:r>
            <a:r>
              <a:rPr lang="en-US" dirty="0"/>
              <a:t> – strongest predictor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Number of Products – high impact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Tenure – churn spike around 5 years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Estimated Salary – low predictive power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841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2F5D8-40D7-874D-670D-5800E1F7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5E113-055B-BC10-61CF-5D889549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9890696" cy="108093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Strategic Recommendations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07141-20BF-CE9B-280B-33BD7E853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Introduce retention triggers at Year 4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Cross‑sell second product aggressively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Launch Germany‑focused loyalty programs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Design premium services for high‑balance customers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Fix data quality issues in activity flags</a:t>
            </a:r>
          </a:p>
        </p:txBody>
      </p:sp>
    </p:spTree>
    <p:extLst>
      <p:ext uri="{BB962C8B-B14F-4D97-AF65-F5344CB8AC3E}">
        <p14:creationId xmlns:p14="http://schemas.microsoft.com/office/powerpoint/2010/main" val="3629855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CA207-A34A-1F12-47AD-0BA2A014D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6F055-8597-6856-2A51-AA2EC10CB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9890696" cy="108093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Dashboard Vision (Customer Demographics)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5B109CE-0247-CAC2-23CE-65C3ECC3E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2542" y="1834166"/>
            <a:ext cx="8353441" cy="427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80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4412-A191-8592-7DB1-DC305E66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CDC7-E4E5-AEB0-F4B5-FFF839D9A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9890696" cy="108093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Dashboard Vision (Product Analysis)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C17F1F-71C3-6817-58E7-E8A887AC0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0982" y="1834166"/>
            <a:ext cx="8329928" cy="427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527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5F9CF-D75F-59C9-726A-58A93127C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A4E3-5530-A978-B8E8-42D24F696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9890696" cy="108093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Dashboard Vision (Churn Analysis)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E20443-903A-21A1-C8C0-55E9BF468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2708" y="1834166"/>
            <a:ext cx="8344039" cy="427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34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529E-5402-61E8-5470-F5B184E51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83D9-C46F-0574-D46B-D1950AD45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9890696" cy="108093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Conclusion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93B17-B27F-8BB2-2898-AEDC95260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Churn is driven by engagement, not income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High‑value customer exits pose biggest threat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Single‑product customers are most vulnerable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Data‑driven CRM strategy can significantly reduce churn</a:t>
            </a:r>
          </a:p>
          <a:p>
            <a:endParaRPr lang="en-US" dirty="0"/>
          </a:p>
        </p:txBody>
      </p:sp>
      <p:pic>
        <p:nvPicPr>
          <p:cNvPr id="4" name="Picture 4" descr="5+ Thousand Conclusion Presentation Royalty-Free Images, Stock Photos &amp;  Pictures | Shutterstock">
            <a:extLst>
              <a:ext uri="{FF2B5EF4-FFF2-40B4-BE49-F238E27FC236}">
                <a16:creationId xmlns:a16="http://schemas.microsoft.com/office/drawing/2014/main" id="{CC3672E0-BFDE-4850-F83F-076AFD94C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1018" y="665482"/>
            <a:ext cx="1620982" cy="1256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57094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1319</TotalTime>
  <Words>1029</Words>
  <Application>Microsoft Office PowerPoint</Application>
  <PresentationFormat>Widescreen</PresentationFormat>
  <Paragraphs>161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Calibri</vt:lpstr>
      <vt:lpstr>Calibri Light</vt:lpstr>
      <vt:lpstr>Google Sans Text</vt:lpstr>
      <vt:lpstr>Retrospect</vt:lpstr>
      <vt:lpstr>BANK CRM ANALYSIS</vt:lpstr>
      <vt:lpstr>Agenda</vt:lpstr>
      <vt:lpstr>Problem Statement</vt:lpstr>
      <vt:lpstr>Business Objective</vt:lpstr>
      <vt:lpstr>Dataset Overview</vt:lpstr>
      <vt:lpstr>Data Model &amp; Schema Design</vt:lpstr>
      <vt:lpstr>Database Schema</vt:lpstr>
      <vt:lpstr>Regional Distribution of Account Balances</vt:lpstr>
      <vt:lpstr>High‑Value Customer Acquisition </vt:lpstr>
      <vt:lpstr>Product Usage – Credit Card Holders</vt:lpstr>
      <vt:lpstr>Churn Analysis by Gender</vt:lpstr>
      <vt:lpstr>Credit Score – Churn vs Retained Customers</vt:lpstr>
      <vt:lpstr>Salary vs Account Activity</vt:lpstr>
      <vt:lpstr>Credit Score Segmentation &amp; Exit Rates</vt:lpstr>
      <vt:lpstr>Long‑Tenure Active Customers (&gt;5 Years)</vt:lpstr>
      <vt:lpstr>Impact of Credit Card on Churn</vt:lpstr>
      <vt:lpstr>Product Count Among Churned Customers</vt:lpstr>
      <vt:lpstr>Customer Onboarding Trends</vt:lpstr>
      <vt:lpstr>Balance vs Product Count (Churned Customers)</vt:lpstr>
      <vt:lpstr>Outlier Analysis – Retained Customers</vt:lpstr>
      <vt:lpstr>Data Integrity &amp; Discrepancy Analysis</vt:lpstr>
      <vt:lpstr>Customer Behavior Insights</vt:lpstr>
      <vt:lpstr>Product Affinity &amp; Cross‑Sell Strategy</vt:lpstr>
      <vt:lpstr>Geographic Risk Assessment</vt:lpstr>
      <vt:lpstr>Risk Management Perspective</vt:lpstr>
      <vt:lpstr>Key Churn Predictors</vt:lpstr>
      <vt:lpstr>Strategic Recommendations</vt:lpstr>
      <vt:lpstr>Dashboard Vision (Customer Demographics)</vt:lpstr>
      <vt:lpstr>Dashboard Vision (Product Analysis)</vt:lpstr>
      <vt:lpstr>Dashboard Vision (Churn Analysis)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Dhyanish Khanna</dc:creator>
  <cp:lastModifiedBy>Ansh Verma</cp:lastModifiedBy>
  <cp:revision>8</cp:revision>
  <dcterms:created xsi:type="dcterms:W3CDTF">2025-12-13T07:11:21Z</dcterms:created>
  <dcterms:modified xsi:type="dcterms:W3CDTF">2026-03-09T04:24:39Z</dcterms:modified>
</cp:coreProperties>
</file>